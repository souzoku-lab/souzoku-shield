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4cedc649f14f68" /><Relationship Type="http://schemas.openxmlformats.org/officeDocument/2006/relationships/extended-properties" Target="/docProps/app.xml" Id="Rbc57e7de56934ef4" /><Relationship Type="http://schemas.openxmlformats.org/officeDocument/2006/relationships/officeDocument" Target="/ppt/presentation.xml" Id="R1a55d18486dd48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df96a85fa14cda"/>
  </p:sldMasterIdLst>
  <p:notesMasterIdLst>
    <p:notesMasterId xmlns:r="http://schemas.openxmlformats.org/officeDocument/2006/relationships" r:id="Ra4e415d5ca8b49fb"/>
  </p:notesMasterIdLst>
  <p:sldIdLst>
    <p:sldId xmlns:r="http://schemas.openxmlformats.org/officeDocument/2006/relationships" id="256" r:id="Rc4b104fb7e5d423d"/>
    <p:sldId xmlns:r="http://schemas.openxmlformats.org/officeDocument/2006/relationships" id="257" r:id="R52e3f3a853e74c59"/>
    <p:sldId xmlns:r="http://schemas.openxmlformats.org/officeDocument/2006/relationships" id="258" r:id="R4de5f2d4ba384fab"/>
    <p:sldId xmlns:r="http://schemas.openxmlformats.org/officeDocument/2006/relationships" id="259" r:id="R590bdfa2045649fa"/>
  </p:sldIdLst>
  <p:sldSz cx="9753600" cy="5486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8dce119292418a" /><Relationship Type="http://schemas.openxmlformats.org/officeDocument/2006/relationships/slideMaster" Target="/ppt/slideMasters/slideMaster1.xml" Id="R41df96a85fa14cda" /><Relationship Type="http://schemas.openxmlformats.org/officeDocument/2006/relationships/notesMaster" Target="/ppt/notesMasters/notesMaster1.xml" Id="Ra4e415d5ca8b49fb" /><Relationship Type="http://schemas.openxmlformats.org/officeDocument/2006/relationships/presProps" Target="/ppt/presProps.xml" Id="R172b3b83235848c6" /><Relationship Type="http://schemas.openxmlformats.org/officeDocument/2006/relationships/tableStyles" Target="/ppt/tableStyles.xml" Id="R976f93dec97a4617" /><Relationship Type="http://schemas.openxmlformats.org/officeDocument/2006/relationships/slide" Target="/ppt/slides/slide1.xml" Id="Rc4b104fb7e5d423d" /><Relationship Type="http://schemas.openxmlformats.org/officeDocument/2006/relationships/slide" Target="/ppt/slides/slide2.xml" Id="R52e3f3a853e74c59" /><Relationship Type="http://schemas.openxmlformats.org/officeDocument/2006/relationships/slide" Target="/ppt/slides/slide3.xml" Id="R4de5f2d4ba384fab" /><Relationship Type="http://schemas.openxmlformats.org/officeDocument/2006/relationships/slide" Target="/ppt/slides/slide4.xml" Id="R590bdfa2045649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b1078c4ab74a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2e4e215f4d443a" /><Relationship Type="http://schemas.openxmlformats.org/officeDocument/2006/relationships/notesMaster" Target="/ppt/notesMasters/notesMaster1.xml" Id="R179802ec06ea4a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ed31be06974b2f" /><Relationship Type="http://schemas.openxmlformats.org/officeDocument/2006/relationships/notesMaster" Target="/ppt/notesMasters/notesMaster1.xml" Id="Rf850301629eb46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f37a7f9e754d3d" /><Relationship Type="http://schemas.openxmlformats.org/officeDocument/2006/relationships/notesMaster" Target="/ppt/notesMasters/notesMaster1.xml" Id="Rb1ef321610ff4a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0d0a39e01b4c55" /><Relationship Type="http://schemas.openxmlformats.org/officeDocument/2006/relationships/notesMaster" Target="/ppt/notesMasters/notesMaster1.xml" Id="Rbe2810d67c784a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2ffc4e043244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4e9629bcb64c8a" /><Relationship Type="http://schemas.openxmlformats.org/officeDocument/2006/relationships/slideLayout" Target="/ppt/slideLayouts/slideLayout1.xml" Id="R27525ccc1f024f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525ccc1f024f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d7e33b4e442b2" /><Relationship Type="http://schemas.openxmlformats.org/officeDocument/2006/relationships/image" Target="/ppt/media/image.jpeg" Id="R111459d092fb4af9" /><Relationship Type="http://schemas.openxmlformats.org/officeDocument/2006/relationships/notesSlide" Target="/ppt/notesSlides/notesSlide1.xml" Id="R49299fcb211f49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43bba9dd54355" /><Relationship Type="http://schemas.openxmlformats.org/officeDocument/2006/relationships/notesSlide" Target="/ppt/notesSlides/notesSlide2.xml" Id="Rc1ad5d3778814a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e861ec00743b5" /><Relationship Type="http://schemas.openxmlformats.org/officeDocument/2006/relationships/notesSlide" Target="/ppt/notesSlides/notesSlide3.xml" Id="R394cd8a148d74e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2c49e2f354d21" /><Relationship Type="http://schemas.openxmlformats.org/officeDocument/2006/relationships/notesSlide" Target="/ppt/notesSlides/notesSlide4.xml" Id="R0ea2793c84284e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4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ro-green-rail">
            <a:extLst xmlns:a="http://schemas.openxmlformats.org/drawingml/2006/main">
              <a:ext uri="{FF2B5EF4-FFF2-40B4-BE49-F238E27FC236}">
                <a16:creationId xmlns:a16="http://schemas.microsoft.com/office/drawing/2014/main" id="{D93701E0-CBEA-49B4-8FFE-11B2EA4C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4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D386E-3C69-4B90-92B7-BED5AA16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DCC7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350" b="1">
                <a:solidFill>
                  <a:srgbClr val="A9DCC7"/>
                </a:solidFill>
                <a:latin typeface="Noto Sans JP Thin"/>
                <a:ea typeface="Noto Sans JP Thin"/>
                <a:cs typeface="Noto Sans JP Thin"/>
              </a:rPr>
              <a:t>SOUZOKU SHIELD  /  相続の盾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47001-02C9-4147-BF4D-41B48E4A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4095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3750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rPr>
              <a:t>専門判断を、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3750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rPr>
              <a:t>DevOpsする。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49136-1BA3-40E7-81F6-D341E1B3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0"/>
            <a:ext cx="3905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D7E4E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725" b="0">
                <a:solidFill>
                  <a:srgbClr val="D7E4ED"/>
                </a:solidFill>
                <a:latin typeface="Noto Sans JP Thin"/>
                <a:ea typeface="Noto Sans JP Thin"/>
                <a:cs typeface="Noto Sans JP Thin"/>
              </a:rPr>
              <a:t>記憶と手作業に閉じた専門知を、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D7E4E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725" b="0">
                <a:solidFill>
                  <a:srgbClr val="D7E4ED"/>
                </a:solidFill>
                <a:latin typeface="Noto Sans JP Thin"/>
                <a:ea typeface="Noto Sans JP Thin"/>
                <a:cs typeface="Noto Sans JP Thin"/>
              </a:rPr>
              <a:t>検証・承認・更新できる運用資産へ。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AA1F6-2EE3-4685-823A-F66841E2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0"/>
            <a:ext cx="1524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EA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AI＝進む／聞く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5DE24-A47A-48A0-B390-D25E3D3B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00500"/>
            <a:ext cx="13335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7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CODE＝正しさ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7135A-37EF-46A3-A852-701C0CAE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00500"/>
            <a:ext cx="14287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HUMAN＝責任</a:t>
            </a:r>
          </a:p>
        </p:txBody>
      </p:sp>
      <p:sp>
        <p:nvSpPr>
          <p:cNvPr id="8" name="hero-screen-frame">
            <a:extLst xmlns:a="http://schemas.openxmlformats.org/drawingml/2006/main">
              <a:ext uri="{FF2B5EF4-FFF2-40B4-BE49-F238E27FC236}">
                <a16:creationId xmlns:a16="http://schemas.microsoft.com/office/drawing/2014/main" id="{A1A5EA84-27AB-4709-AB40-0A7DF67B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800100"/>
            <a:ext cx="4210050" cy="3562350"/>
          </a:xfrm>
          <a:prstGeom xmlns:a="http://schemas.openxmlformats.org/drawingml/2006/main" prst="roundRect">
            <a:avLst>
              <a:gd name="adj" fmla="val 5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DB7A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459d092fb4af9"/>
          <a:srcRect xmlns:a="http://schemas.openxmlformats.org/drawingml/2006/main" l="8824" t="0" r="882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53050" y="952500"/>
            <a:ext cx="3905250" cy="3257550"/>
          </a:xfrm>
          <a:prstGeom xmlns:a="http://schemas.openxmlformats.org/drawingml/2006/main" prst="roundRect">
            <a:avLst>
              <a:gd name="adj" fmla="val 4094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4ADDD-654C-47FE-A381-A7E1970C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66800"/>
            <a:ext cx="16954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845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rPr>
              <a:t>Gemini 実行トレース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ED2D7-E75F-46F5-BB93-160520D0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14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FC6D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AFC6D8"/>
                </a:solidFill>
                <a:latin typeface="Noto Sans JP Thin"/>
                <a:ea typeface="Noto Sans JP Thin"/>
                <a:cs typeface="Noto Sans JP Thin"/>
              </a:rPr>
              <a:t>model  /  tool  /  result  /  latency  /  fallback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51B94-0510-4251-84B8-3576395D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197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6D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825" b="1">
                <a:solidFill>
                  <a:srgbClr val="AFC6D8"/>
                </a:solidFill>
                <a:latin typeface="Noto Sans JP Thin"/>
                <a:ea typeface="Noto Sans JP Thin"/>
                <a:cs typeface="Noto Sans JP Thin"/>
              </a:rPr>
              <a:t>SOUZOKU SHIELD  /  DEVOPS × AI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F831D5-3704-4E59-BBBF-62FE480D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006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AFC6D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825" b="1">
                <a:solidFill>
                  <a:srgbClr val="AFC6D8"/>
                </a:solidFill>
                <a:latin typeface="Noto Sans JP Thin"/>
                <a:ea typeface="Noto Sans JP Thin"/>
                <a:cs typeface="Noto Sans JP Thin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346691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314E5A-8585-4A7B-BA08-56C0678C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27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情報が足りないなら、勝手に進まない。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9594F-FF20-45FC-B7A4-B32710C8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00" b="0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Geminiは税務回答を作らず、次の安全な行動だけを選びます。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0B0171-2CF2-4E28-8CC9-0AD701E2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0025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32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曖昧な相談</a:t>
            </a:r>
          </a:p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『次男が実家を取得』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A5C65-DBAB-4C6E-920A-B8615620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00200"/>
            <a:ext cx="2095500" cy="1219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FEAFF"/>
          </a:solidFill>
          <a:ln xmlns:a="http://schemas.openxmlformats.org/drawingml/2006/main" w="14288">
            <a:solidFill>
              <a:srgbClr val="7356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80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Gemini Router</a:t>
            </a:r>
          </a:p>
          <a:p xmlns:a="http://schemas.openxmlformats.org/drawingml/2006/main">
            <a:pPr algn="ctr">
              <a:defRPr sz="180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80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進む？  聞く？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44DD6-3B2C-4BDB-80FA-8A54E69A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85900"/>
            <a:ext cx="29527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4D8"/>
          </a:solidFill>
          <a:ln xmlns:a="http://schemas.openxmlformats.org/drawingml/2006/main" w="14288">
            <a:solidFill>
              <a:srgbClr val="A66A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SAFE STOP</a:t>
            </a:r>
          </a:p>
          <a:p xmlns:a="http://schemas.openxmlformats.org/drawingml/2006/main">
            <a:pPr algn="ctr">
              <a:defRPr sz="16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案件stateは不変</a:t>
            </a:r>
          </a:p>
          <a:p xmlns:a="http://schemas.openxmlformats.org/drawingml/2006/main">
            <a:pPr algn="ctr">
              <a:defRPr sz="16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Review・Wordをロック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91154B-EFC7-404F-A3CE-062D992D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23050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5845C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追加回答</a:t>
            </a:r>
          </a:p>
          <a:p xmlns:a="http://schemas.openxmlformats.org/drawingml/2006/main">
            <a:pPr algn="ctr">
              <a:defRPr sz="15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『別居・持ち家なし』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AFEAC-72D4-468B-89D8-0FCF6B9C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562350"/>
            <a:ext cx="22669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7EE"/>
          </a:solidFill>
          <a:ln xmlns:a="http://schemas.openxmlformats.org/drawingml/2006/main" w="14288">
            <a:solidFill>
              <a:srgbClr val="15845C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7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元相談＋追加回答で再実行</a:t>
            </a:r>
          </a:p>
          <a:p xmlns:a="http://schemas.openxmlformats.org/drawingml/2006/main">
            <a:pPr algn="ctr">
              <a:defRPr sz="127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7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判断履歴を継承</a:t>
            </a:r>
          </a:p>
        </p:txBody>
      </p:sp>
      <p:cxnSp>
        <p:nvCxnSpPr>
          <p:cNvPr id="24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2400300" y="2209800"/>
            <a:ext cx="704850" cy="952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24D"/>
            </a:solidFill>
            <a:prstDash val="solid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5200650" y="2200275"/>
            <a:ext cx="8001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66A00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7134225" y="2914650"/>
            <a:ext cx="342900" cy="647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A66A00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5353050" y="40195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5845C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H="1" flipV="1">
            <a:off x="4152900" y="2819400"/>
            <a:ext cx="66675" cy="742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15845C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36137-AF42-4A6F-B358-1EECE589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1809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9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request_clarification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F270E-D047-4681-AA11-AC3F844D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006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3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固定フォームとの差は、AIが『進めるか』まで判断し、不足なら状態を変えず止まれること。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18873-C721-4A71-9824-20B6BDC4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197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SOUZOKU SHIELD  /  DEVOPS × AI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4DCD70-15D3-4ADA-8BF9-83868F2F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006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01124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29AB97-2A1E-4912-A84F-A47E6D70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27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曖昧さはAI、正しさはコード、責任は人へ。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5E1CB-E573-4996-A939-751B75D0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00" b="0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役割を混ぜないことが、高リスク領域でAI Agentを運用する設計です。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E1F9E-2FC0-43CC-8502-E67AFE06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62100"/>
            <a:ext cx="2476500" cy="2152650"/>
          </a:xfrm>
          <a:prstGeom xmlns:a="http://schemas.openxmlformats.org/drawingml/2006/main" prst="roundRect">
            <a:avLst>
              <a:gd name="adj" fmla="val 7080"/>
            </a:avLst>
          </a:prstGeom>
          <a:solidFill xmlns:a="http://schemas.openxmlformats.org/drawingml/2006/main">
            <a:srgbClr val="EFEAFF"/>
          </a:solidFill>
          <a:ln xmlns:a="http://schemas.openxmlformats.org/drawingml/2006/main" w="14288">
            <a:solidFill>
              <a:srgbClr val="7356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AI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進むか、聞くか</a:t>
            </a:r>
          </a:p>
          <a:p xmlns:a="http://schemas.openxmlformats.org/drawingml/2006/main">
            <a:pPr algn="ctr">
              <a:defRPr sz="165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Function Calling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C01D0-65B3-42FE-B741-81393C1A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62100"/>
            <a:ext cx="2476500" cy="2152650"/>
          </a:xfrm>
          <a:prstGeom xmlns:a="http://schemas.openxmlformats.org/drawingml/2006/main" prst="roundRect">
            <a:avLst>
              <a:gd name="adj" fmla="val 7080"/>
            </a:avLst>
          </a:prstGeom>
          <a:solidFill xmlns:a="http://schemas.openxmlformats.org/drawingml/2006/main">
            <a:srgbClr val="E5F7EE"/>
          </a:solidFill>
          <a:ln xmlns:a="http://schemas.openxmlformats.org/drawingml/2006/main" w="14288">
            <a:solidFill>
              <a:srgbClr val="15845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要件・資料・リスクを</a:t>
            </a:r>
          </a:p>
          <a:p xmlns:a="http://schemas.openxmlformats.org/drawingml/2006/main">
            <a:pPr algn="ctr">
              <a:defRPr sz="16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同じ入力から再現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A2DD0-66B6-4191-9649-6D8A21DC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62100"/>
            <a:ext cx="2476500" cy="2152650"/>
          </a:xfrm>
          <a:prstGeom xmlns:a="http://schemas.openxmlformats.org/drawingml/2006/main" prst="roundRect">
            <a:avLst>
              <a:gd name="adj" fmla="val 708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4288">
            <a:solidFill>
              <a:srgbClr val="C25B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HUMAN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適用可否・総合所見</a:t>
            </a:r>
          </a:p>
          <a:p xmlns:a="http://schemas.openxmlformats.org/drawingml/2006/main">
            <a:pPr algn="ctr">
              <a:defRPr sz="165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65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レビュー完了（承認）</a:t>
            </a:r>
          </a:p>
        </p:txBody>
      </p: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914650" y="26384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892A8"/>
            </a:solidFill>
            <a:prstDash val="solid"/>
            <a:tailEnd type="triangle" w="sm" len="sm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6115050" y="26384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892A8"/>
            </a:solidFill>
            <a:prstDash val="solid"/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C3B50-D233-4567-9679-B55A847D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86200"/>
            <a:ext cx="21717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F4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97183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Geminiは税務結論を書かない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11D9A-60E3-4C78-A98C-17AD5F78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86200"/>
            <a:ext cx="30480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A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8593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pytest 72件・secret scan・Docker・health smoke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2A585-FE4B-4C9C-A9F3-596AC7E0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86200"/>
            <a:ext cx="18478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F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承認後だけ Word出力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DF578-039F-4A82-BC75-A275F819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57700"/>
            <a:ext cx="7048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E8E5"/>
          </a:solidFill>
          <a:ln xmlns:a="http://schemas.openxmlformats.org/drawingml/2006/main" w="14288">
            <a:solidFill>
              <a:srgbClr val="B42318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4231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575" b="1">
                <a:solidFill>
                  <a:srgbClr val="B42318"/>
                </a:solidFill>
                <a:latin typeface="Noto Sans JP Thin"/>
                <a:ea typeface="Noto Sans JP Thin"/>
                <a:cs typeface="Noto Sans JP Thin"/>
              </a:rPr>
              <a:t>CIで止める具体例  ｜  課税価格への影響  +5,600万円（架空ケース）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9B733-D84B-454A-BC2E-5D83B9B3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197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SOUZOKU SHIELD  /  DEVOPS × AI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FF042-20D5-4D3B-8D2A-1C698AE4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006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825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8854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DD44C5-C9EB-4BD5-AA38-54D68312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86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24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専門判断をDevOpsする、2つのループ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EF5E0-A3AC-44DA-8931-6E0178FB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667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5F6D7A"/>
                </a:solidFill>
                <a:latin typeface="Noto Sans JP Thin"/>
                <a:ea typeface="Noto Sans JP Thin"/>
                <a:cs typeface="Noto Sans JP Thin"/>
              </a:rPr>
              <a:t>AI＝進むか聞くか  ｜  CODE＝再現可能な要件整理  ｜  HUMAN＝可否判断と承認</a:t>
            </a:r>
          </a:p>
        </p:txBody>
      </p:sp>
      <p:sp>
        <p:nvSpPr>
          <p:cNvPr id="3" name="runtime-lane">
            <a:extLst xmlns:a="http://schemas.openxmlformats.org/drawingml/2006/main">
              <a:ext uri="{FF2B5EF4-FFF2-40B4-BE49-F238E27FC236}">
                <a16:creationId xmlns:a16="http://schemas.microsoft.com/office/drawing/2014/main" id="{5CFC2156-4E98-4F59-8BC1-7326437E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028700"/>
            <a:ext cx="9296400" cy="28194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D1DF"/>
            </a:solidFill>
            <a:prstDash val="solid"/>
          </a:ln>
        </p:spPr>
      </p:sp>
      <p:sp>
        <p:nvSpPr>
          <p:cNvPr id="4" name="devops-lane">
            <a:extLst xmlns:a="http://schemas.openxmlformats.org/drawingml/2006/main">
              <a:ext uri="{FF2B5EF4-FFF2-40B4-BE49-F238E27FC236}">
                <a16:creationId xmlns:a16="http://schemas.microsoft.com/office/drawing/2014/main" id="{832E5FC0-87D7-4B45-A28D-777CCAE4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981450"/>
            <a:ext cx="9296400" cy="118110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2FAF6"/>
          </a:solidFill>
          <a:ln xmlns:a="http://schemas.openxmlformats.org/drawingml/2006/main" w="14288">
            <a:solidFill>
              <a:srgbClr val="AED8C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D3C6B-EA4A-45B1-A415-3FE56B1D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239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rPr>
              <a:t>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991FA-F7DA-40C0-8CBE-0A53CE4A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7670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845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FFFFFF"/>
                </a:solidFill>
                <a:latin typeface="Noto Sans JP Thin"/>
                <a:ea typeface="Noto Sans JP Thin"/>
                <a:cs typeface="Noto Sans JP Thin"/>
              </a:rPr>
              <a:t>DEVOPS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58882-E8AC-4B44-B3CD-97B02728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104900" cy="11239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4288">
            <a:solidFill>
              <a:srgbClr val="C25B24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9648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税理士</a:t>
            </a:r>
          </a:p>
          <a:p xmlns:a="http://schemas.openxmlformats.org/drawingml/2006/main">
            <a:pPr algn="ctr">
              <a:def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散文相談・カード</a:t>
            </a:r>
          </a:p>
          <a:p xmlns:a="http://schemas.openxmlformats.org/drawingml/2006/main">
            <a:pPr algn="ctr">
              <a:def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00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追加回答・承認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7F7ED2-2ABC-4E60-A3F3-9366CCE0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581150"/>
            <a:ext cx="16764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E8F0FF"/>
          </a:solidFill>
          <a:ln xmlns:a="http://schemas.openxmlformats.org/drawingml/2006/main" w="14288">
            <a:solidFill>
              <a:srgbClr val="2F6FED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7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FastAPI / Agent Router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27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7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進む／聞く</a:t>
            </a:r>
          </a:p>
          <a:p xmlns:a="http://schemas.openxmlformats.org/drawingml/2006/main">
            <a:pPr algn="ctr">
              <a:defRPr sz="127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27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構造化事実を優先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C78295-0236-406E-9116-F8C7B379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104900"/>
            <a:ext cx="1676400" cy="438150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EFEAFF"/>
          </a:solidFill>
          <a:ln xmlns:a="http://schemas.openxmlformats.org/drawingml/2006/main" w="14288">
            <a:solidFill>
              <a:srgbClr val="7356C8"/>
            </a:solidFill>
            <a:prstDash val="solid"/>
          </a:ln>
        </p:spPr>
        <p:txBody>
          <a:bodyPr xmlns:a="http://schemas.openxmlformats.org/drawingml/2006/main" wrap="square" lIns="66675" tIns="28575" rIns="66675" bIns="28575" anchor="ctr">
            <a:normAutofit fontScale="65443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Gemini 3.5 Flash</a:t>
            </a:r>
          </a:p>
          <a:p xmlns:a="http://schemas.openxmlformats.org/drawingml/2006/main">
            <a:pPr algn="ctr">
              <a:defRPr sz="97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Function Calling</a:t>
            </a:r>
          </a:p>
          <a:p xmlns:a="http://schemas.openxmlformats.org/drawingml/2006/main">
            <a:pPr algn="ctr">
              <a:defRPr sz="97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7356C8"/>
                </a:solidFill>
                <a:latin typeface="Noto Sans JP Thin"/>
                <a:ea typeface="Noto Sans JP Thin"/>
                <a:cs typeface="Noto Sans JP Thin"/>
              </a:rPr>
              <a:t>税務結論は生成しない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FF1A8-76E1-4C57-91C1-F6D81667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009900"/>
            <a:ext cx="16764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4D8"/>
          </a:solidFill>
          <a:ln xmlns:a="http://schemas.openxmlformats.org/drawingml/2006/main" w="14288">
            <a:solidFill>
              <a:srgbClr val="A66A00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SAFE STOP</a:t>
            </a:r>
          </a:p>
          <a:p xmlns:a="http://schemas.openxmlformats.org/drawingml/2006/main">
            <a:pPr algn="ctr">
              <a:def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案件state不変</a:t>
            </a:r>
          </a:p>
          <a:p xmlns:a="http://schemas.openxmlformats.org/drawingml/2006/main">
            <a:pPr algn="ctr">
              <a:def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Review・Wordロック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C0F5FF-FFD4-4870-B5FC-7802334C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81150"/>
            <a:ext cx="20002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E5F7EE"/>
          </a:solidFill>
          <a:ln xmlns:a="http://schemas.openxmlformats.org/drawingml/2006/main" w="14288">
            <a:solidFill>
              <a:srgbClr val="15845C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決定的要件整理コア</a:t>
            </a:r>
          </a:p>
          <a:p xmlns:a="http://schemas.openxmlformats.org/drawingml/2006/main">
            <a:pPr algn="ctr">
              <a:def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rules + reducer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不足資料・リスク</a:t>
            </a:r>
          </a:p>
          <a:p xmlns:a="http://schemas.openxmlformats.org/drawingml/2006/main">
            <a:pPr algn="ctr">
              <a:def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反実仮想・書面ドラフト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8385C-1A2A-46A2-AB51-D94E654B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33550"/>
            <a:ext cx="1666875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4288">
            <a:solidFill>
              <a:srgbClr val="C25B24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税理士Review</a:t>
            </a:r>
          </a:p>
          <a:p xmlns:a="http://schemas.openxmlformats.org/drawingml/2006/main">
            <a:pPr algn="ctr">
              <a:def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適用可否・総合所見</a:t>
            </a:r>
          </a:p>
          <a:p xmlns:a="http://schemas.openxmlformats.org/drawingml/2006/main">
            <a:pPr algn="ctr">
              <a:def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C25B24"/>
                </a:solidFill>
                <a:latin typeface="Noto Sans JP Thin"/>
                <a:ea typeface="Noto Sans JP Thin"/>
                <a:cs typeface="Noto Sans JP Thin"/>
              </a:rPr>
              <a:t>HITL承認ゲート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7138D-FB85-4405-A66A-4A7FE115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28800"/>
            <a:ext cx="11239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324D"/>
            </a:solidFill>
            <a:prstDash val="solid"/>
          </a:ln>
        </p:spPr>
        <p:txBody>
          <a:bodyPr xmlns:a="http://schemas.openxmlformats.org/drawingml/2006/main" wrap="square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承認後のみ</a:t>
            </a:r>
          </a:p>
          <a:p xmlns:a="http://schemas.openxmlformats.org/drawingml/2006/main">
            <a:pPr algn="ctr">
              <a:defRPr sz="10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書面添付 .docx</a:t>
            </a:r>
          </a:p>
          <a:p xmlns:a="http://schemas.openxmlformats.org/drawingml/2006/main">
            <a:pPr algn="ctr">
              <a:defRPr sz="10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ドラフト出力</a:t>
            </a:r>
          </a:p>
        </p:txBody>
      </p: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1504950" y="2238375"/>
            <a:ext cx="476250" cy="952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24D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657600" y="2238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5845C"/>
            </a:solidFill>
            <a:prstDash val="solid"/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00750" y="2238375"/>
            <a:ext cx="381000" cy="76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5845C"/>
            </a:solidFill>
            <a:prstDash val="solid"/>
            <a:tailEnd type="triangle" w="sm" len="sm"/>
          </a:ln>
        </p:spPr>
      </p:cxnSp>
      <p:cxnSp>
        <p:nvCxnSpPr>
          <p:cNvPr id="45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048625" y="2314575"/>
            <a:ext cx="200025" cy="9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C25B24"/>
            </a:solidFill>
            <a:prstDash val="solid"/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8" idx="0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2819400" y="1543050"/>
            <a:ext cx="0" cy="381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356C8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8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2819400" y="28956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66A00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0" idx="1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 flipV="1">
            <a:off x="952500" y="2895600"/>
            <a:ext cx="1028700" cy="457200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A66A00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07503D-9A4F-44C1-8ACD-97032BFC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43250"/>
            <a:ext cx="3905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75" b="1">
                <a:solidFill>
                  <a:srgbClr val="A66A00"/>
                </a:solidFill>
                <a:latin typeface="Noto Sans JP Thin"/>
                <a:ea typeface="Noto Sans JP Thin"/>
                <a:cs typeface="Noto Sans JP Thin"/>
              </a:rPr>
              <a:t>API障害・不正call時も、不足／未定／矛盾は安全停止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D15D36-E745-4111-AE23-B9953340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67100"/>
            <a:ext cx="43434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19050" rIns="95250" bIns="19050" anchor="ctr">
            <a:normAutofit fontScale="99895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00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Cloud Run  /  訪問者別Cookieセッション  /  公開M1はメモリ状態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F8A603-4268-4FCB-94A3-F73B2EF9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1257300" cy="628650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324D"/>
            </a:solidFill>
            <a:prstDash val="solid"/>
          </a:ln>
        </p:spPr>
        <p:txBody>
          <a:bodyPr xmlns:a="http://schemas.openxmlformats.org/drawingml/2006/main" wrap="square" lIns="47625" tIns="47625" rIns="476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GitHub</a:t>
            </a:r>
          </a:p>
          <a:p xmlns:a="http://schemas.openxmlformats.org/drawingml/2006/main">
            <a:pPr algn="ctr">
              <a:defRPr sz="112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125" b="1">
                <a:solidFill>
                  <a:srgbClr val="17324D"/>
                </a:solidFill>
                <a:latin typeface="Noto Sans JP Thin"/>
                <a:ea typeface="Noto Sans JP Thin"/>
                <a:cs typeface="Noto Sans JP Thin"/>
              </a:rPr>
              <a:t>専門知＋rules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EDE2C-F312-4026-803E-0C3EDDDF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24350"/>
            <a:ext cx="2667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5F7EE"/>
          </a:solidFill>
          <a:ln xmlns:a="http://schemas.openxmlformats.org/drawingml/2006/main" w="14288">
            <a:solidFill>
              <a:srgbClr val="15845C"/>
            </a:solidFill>
            <a:prstDash val="solid"/>
          </a:ln>
        </p:spPr>
        <p:txBody>
          <a:bodyPr xmlns:a="http://schemas.openxmlformats.org/drawingml/2006/main" wrap="square" lIns="66675" tIns="47625" rIns="6667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GitHub Actions</a:t>
            </a:r>
          </a:p>
          <a:p xmlns:a="http://schemas.openxmlformats.org/drawingml/2006/main">
            <a:pPr algn="ctr">
              <a:def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secret → pytest 72 → Docker → health smoke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68C599-62B3-4B17-8437-DB81D0E2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24350"/>
            <a:ext cx="20002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5845C"/>
            </a:solidFill>
            <a:prstDash val="solid"/>
          </a:ln>
        </p:spPr>
        <p:txBody>
          <a:bodyPr xmlns:a="http://schemas.openxmlformats.org/drawingml/2006/main" wrap="square" lIns="66675" tIns="47625" rIns="6667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CI合格後に手動deploy</a:t>
            </a:r>
          </a:p>
          <a:p xmlns:a="http://schemas.openxmlformats.org/drawingml/2006/main">
            <a:pPr algn="ctr">
              <a:def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105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APP_VERSION = 公開main SHA</a:t>
            </a:r>
          </a:p>
        </p:txBody>
      </p:sp>
      <p:cxnSp>
        <p:nvCxnSpPr>
          <p:cNvPr id="54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 flipV="1">
            <a:off x="2743200" y="4667250"/>
            <a:ext cx="5524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5845C"/>
            </a:solidFill>
            <a:prstDash val="solid"/>
            <a:tailEnd type="triangle" w="sm" len="sm"/>
          </a:ln>
        </p:spPr>
      </p:cxnSp>
      <p:cxnSp>
        <p:nvCxnSpPr>
          <p:cNvPr id="55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5962650" y="46672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5845C"/>
            </a:solidFill>
            <a:prstDash val="solid"/>
            <a:tailEnd type="triangle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6DD7E8-644A-43B3-A0CD-9AE1E22C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10150"/>
            <a:ext cx="6934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defRPr>
            </a:pPr>
            <a:r>
              <a:rPr sz="900" b="1">
                <a:solidFill>
                  <a:srgbClr val="15845C"/>
                </a:solidFill>
                <a:latin typeface="Noto Sans JP Thin"/>
                <a:ea typeface="Noto Sans JP Thin"/>
                <a:cs typeface="Noto Sans JP Thin"/>
              </a:rPr>
              <a:t>production_evidence.py  ｜  SHA一致・実Gemini・9分岐・問い返し再開・Word E2E</a:t>
            </a:r>
          </a:p>
        </p:txBody>
      </p:sp>
    </p:spTree>
    <p:extLst>
      <p:ext uri="{BB962C8B-B14F-4D97-AF65-F5344CB8AC3E}">
        <p14:creationId xmlns:p14="http://schemas.microsoft.com/office/powerpoint/2010/main" val="416512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2026-07-11T07:43:31.9950000Z</dcterms:created>
  <dcterms:modified xsi:type="dcterms:W3CDTF">2026-07-11T07:43:31.9950000Z</dcterms:modified>
</coreProperties>
</file>