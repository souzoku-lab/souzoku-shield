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24918f742d47c9" /><Relationship Type="http://schemas.openxmlformats.org/officeDocument/2006/relationships/extended-properties" Target="/docProps/app.xml" Id="Rece7f276224643f6" /><Relationship Type="http://schemas.openxmlformats.org/officeDocument/2006/relationships/officeDocument" Target="/ppt/presentation.xml" Id="R0b20ea2c0da949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fcd5ddbdb7e4cb0"/>
  </p:sldMasterIdLst>
  <p:notesMasterIdLst>
    <p:notesMasterId xmlns:r="http://schemas.openxmlformats.org/officeDocument/2006/relationships" r:id="R6a5720fd64ee424c"/>
  </p:notesMasterIdLst>
  <p:sldIdLst>
    <p:sldId xmlns:r="http://schemas.openxmlformats.org/officeDocument/2006/relationships" id="256" r:id="R3c8b02574e044b9e"/>
    <p:sldId xmlns:r="http://schemas.openxmlformats.org/officeDocument/2006/relationships" id="257" r:id="R52a0e328af5145ff"/>
    <p:sldId xmlns:r="http://schemas.openxmlformats.org/officeDocument/2006/relationships" id="258" r:id="R5f9b6874e26b48a9"/>
    <p:sldId xmlns:r="http://schemas.openxmlformats.org/officeDocument/2006/relationships" id="259" r:id="R2a89a9c9c7044169"/>
  </p:sldIdLst>
  <p:sldSz cx="9753600" cy="54864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0e3d8a1003a4e01" /><Relationship Type="http://schemas.openxmlformats.org/officeDocument/2006/relationships/slideMaster" Target="/ppt/slideMasters/slideMaster1.xml" Id="R6fcd5ddbdb7e4cb0" /><Relationship Type="http://schemas.openxmlformats.org/officeDocument/2006/relationships/notesMaster" Target="/ppt/notesMasters/notesMaster1.xml" Id="R6a5720fd64ee424c" /><Relationship Type="http://schemas.openxmlformats.org/officeDocument/2006/relationships/presProps" Target="/ppt/presProps.xml" Id="R6afc1b3015a04dc6" /><Relationship Type="http://schemas.openxmlformats.org/officeDocument/2006/relationships/tableStyles" Target="/ppt/tableStyles.xml" Id="Rcb8b167e8d3b45b2" /><Relationship Type="http://schemas.openxmlformats.org/officeDocument/2006/relationships/slide" Target="/ppt/slides/slide1.xml" Id="R3c8b02574e044b9e" /><Relationship Type="http://schemas.openxmlformats.org/officeDocument/2006/relationships/slide" Target="/ppt/slides/slide2.xml" Id="R52a0e328af5145ff" /><Relationship Type="http://schemas.openxmlformats.org/officeDocument/2006/relationships/slide" Target="/ppt/slides/slide3.xml" Id="R5f9b6874e26b48a9" /><Relationship Type="http://schemas.openxmlformats.org/officeDocument/2006/relationships/slide" Target="/ppt/slides/slide4.xml" Id="R2a89a9c9c70441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ee8f2a4ccca44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ff0fb9b0ff48f8" /><Relationship Type="http://schemas.openxmlformats.org/officeDocument/2006/relationships/notesMaster" Target="/ppt/notesMasters/notesMaster1.xml" Id="R3e8bc713d2a741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d243f81a0ca4670" /><Relationship Type="http://schemas.openxmlformats.org/officeDocument/2006/relationships/notesMaster" Target="/ppt/notesMasters/notesMaster1.xml" Id="Rce20062802fd40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42d2d133f4749dc" /><Relationship Type="http://schemas.openxmlformats.org/officeDocument/2006/relationships/notesMaster" Target="/ppt/notesMasters/notesMaster1.xml" Id="Rf83c49ea0e444b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2e88dfaa9d4914" /><Relationship Type="http://schemas.openxmlformats.org/officeDocument/2006/relationships/notesMaster" Target="/ppt/notesMasters/notesMaster1.xml" Id="R17ddf7bcab6a40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c37620251147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846c2eb13e4690" /><Relationship Type="http://schemas.openxmlformats.org/officeDocument/2006/relationships/slideLayout" Target="/ppt/slideLayouts/slideLayout1.xml" Id="R5fcd537a192742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fcd537a192742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77129549a47ec" /><Relationship Type="http://schemas.openxmlformats.org/officeDocument/2006/relationships/image" Target="/ppt/media/image.jpeg" Id="Rfddea8612dba40f0" /><Relationship Type="http://schemas.openxmlformats.org/officeDocument/2006/relationships/notesSlide" Target="/ppt/notesSlides/notesSlide1.xml" Id="R8d7d9abac6d342a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845ae26f7d40a8" /><Relationship Type="http://schemas.openxmlformats.org/officeDocument/2006/relationships/notesSlide" Target="/ppt/notesSlides/notesSlide2.xml" Id="R50a07b15a9374a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26e6c5dc54e0c" /><Relationship Type="http://schemas.openxmlformats.org/officeDocument/2006/relationships/notesSlide" Target="/ppt/notesSlides/notesSlide3.xml" Id="Re9a4a3f00913402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441ecb70704fa3" /><Relationship Type="http://schemas.openxmlformats.org/officeDocument/2006/relationships/notesSlide" Target="/ppt/notesSlides/notesSlide4.xml" Id="R958a295dc05646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243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hero-green-rail">
            <a:extLst xmlns:a="http://schemas.openxmlformats.org/drawingml/2006/main">
              <a:ext uri="{FF2B5EF4-FFF2-40B4-BE49-F238E27FC236}">
                <a16:creationId xmlns:a16="http://schemas.microsoft.com/office/drawing/2014/main" id="{715A7F89-8B6E-4C48-A12C-9477C27E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2BFE92-3749-4EE3-9A96-106404D3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428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9DCC7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350" b="1">
                <a:solidFill>
                  <a:srgbClr val="A9DCC7"/>
                </a:solidFill>
                <a:latin typeface="Noto Sans JP Thin"/>
                <a:ea typeface="Noto Sans JP Thin"/>
                <a:cs typeface="Noto Sans JP Thin"/>
              </a:rPr>
              <a:t>SOUZOKU SHIELD  /  相続の盾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7C8B84-CD0C-41D0-B518-2FFD4D97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066800"/>
            <a:ext cx="409575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3750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専門判断を、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3750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3750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DevOpsする。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3C7564-A431-4743-8EB4-CFC9657A9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857500"/>
            <a:ext cx="3905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7E4E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725" b="0">
                <a:solidFill>
                  <a:srgbClr val="D7E4ED"/>
                </a:solidFill>
                <a:latin typeface="Noto Sans JP Thin"/>
                <a:ea typeface="Noto Sans JP Thin"/>
                <a:cs typeface="Noto Sans JP Thin"/>
              </a:rPr>
              <a:t>記憶と手作業に閉じた専門知を、</a:t>
            </a:r>
          </a:p>
          <a:p xmlns:a="http://schemas.openxmlformats.org/drawingml/2006/main">
            <a:pPr algn="l">
              <a:lnSpc>
                <a:spcPct val="115000"/>
              </a:lnSpc>
              <a:buNone/>
              <a:defRPr sz="1725" b="0">
                <a:solidFill>
                  <a:srgbClr val="D7E4E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725" b="0">
                <a:solidFill>
                  <a:srgbClr val="D7E4ED"/>
                </a:solidFill>
                <a:latin typeface="Noto Sans JP Thin"/>
                <a:ea typeface="Noto Sans JP Thin"/>
                <a:cs typeface="Noto Sans JP Thin"/>
              </a:rPr>
              <a:t>検証・承認・更新できる運用資産へ。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B6DDA6-7B7F-4006-B5F3-CD57A30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000500"/>
            <a:ext cx="15240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20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AI＝進む／聞く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9D9EC-E3EA-46B1-8621-F7A59DA3E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000500"/>
            <a:ext cx="133350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5F7EE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20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CODE＝正しさ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5CBECA-B1EC-4B64-ABB8-109C3D70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000500"/>
            <a:ext cx="1428750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20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HUMAN＝責任</a:t>
            </a:r>
          </a:p>
        </p:txBody>
      </p:sp>
      <p:sp>
        <p:nvSpPr>
          <p:cNvPr id="8" name="hero-screen-frame">
            <a:extLst xmlns:a="http://schemas.openxmlformats.org/drawingml/2006/main">
              <a:ext uri="{FF2B5EF4-FFF2-40B4-BE49-F238E27FC236}">
                <a16:creationId xmlns:a16="http://schemas.microsoft.com/office/drawing/2014/main" id="{C882432D-AB74-4EA2-A804-716F870F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800100"/>
            <a:ext cx="4210050" cy="3562350"/>
          </a:xfrm>
          <a:prstGeom xmlns:a="http://schemas.openxmlformats.org/drawingml/2006/main" prst="roundRect">
            <a:avLst>
              <a:gd name="adj" fmla="val 5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8DB7A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dea8612dba40f0"/>
          <a:srcRect xmlns:a="http://schemas.openxmlformats.org/drawingml/2006/main" l="8824" t="0" r="88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53050" y="952500"/>
            <a:ext cx="3905250" cy="3257550"/>
          </a:xfrm>
          <a:prstGeom xmlns:a="http://schemas.openxmlformats.org/drawingml/2006/main" prst="roundRect">
            <a:avLst>
              <a:gd name="adj" fmla="val 4094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80D717-9387-4D22-8516-DE026BA2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066800"/>
            <a:ext cx="1695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Gemini 実行トレース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E3E705-3B36-4917-BEC6-E3B62477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514850"/>
            <a:ext cx="3943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AFC6D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AFC6D8"/>
                </a:solidFill>
                <a:latin typeface="Noto Sans JP Thin"/>
                <a:ea typeface="Noto Sans JP Thin"/>
                <a:cs typeface="Noto Sans JP Thin"/>
              </a:rPr>
              <a:t>model  /  tool  /  result  /  latency  /  fallback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E56CE7-445D-400B-AFD3-385F1AA7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197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AFC6D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AFC6D8"/>
                </a:solidFill>
                <a:latin typeface="Noto Sans JP Thin"/>
                <a:ea typeface="Noto Sans JP Thin"/>
                <a:cs typeface="Noto Sans JP Thin"/>
              </a:rPr>
              <a:t>SOUZOKU SHIELD  /  DEVOPS × 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ECB8D8-7D45-4C6D-917C-7289AC269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006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FC6D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AFC6D8"/>
                </a:solidFill>
                <a:latin typeface="Noto Sans JP Thin"/>
                <a:ea typeface="Noto Sans JP Thin"/>
                <a:cs typeface="Noto Sans JP Thi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656420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FD67844-9305-4535-945F-418B90AB7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27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情報が足りないなら、勝手に進まない。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D68F54-1404-4690-814D-ECA5D04B8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00" b="0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Geminiは税務回答を作らず、次の安全な行動だけを選びます。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EA8FE3-F9F3-42D4-8EF0-D08C1310E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790700"/>
            <a:ext cx="200025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曖昧な相談</a:t>
            </a:r>
          </a:p>
          <a:p xmlns:a="http://schemas.openxmlformats.org/drawingml/2006/main">
            <a:pPr algn="ctr">
              <a:defRPr sz="15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『次男が実家を取得』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84CBE-2127-4F5C-B321-82E2D235F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1600200"/>
            <a:ext cx="209550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14288">
            <a:solidFill>
              <a:srgbClr val="735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80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Gemini Router</a:t>
            </a:r>
          </a:p>
          <a:p xmlns:a="http://schemas.openxmlformats.org/drawingml/2006/main">
            <a:pPr algn="ctr">
              <a:defRPr sz="180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80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進む？  聞く？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BD9A9-2FE6-4244-9AD0-2C61B37D9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85900"/>
            <a:ext cx="2952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4288">
            <a:solidFill>
              <a:srgbClr val="A66A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rPr>
              <a:t>SAFE STOP</a:t>
            </a:r>
          </a:p>
          <a:p xmlns:a="http://schemas.openxmlformats.org/drawingml/2006/main">
            <a:pPr algn="ctr">
              <a:defRPr sz="16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rPr>
              <a:t>案件stateは不変</a:t>
            </a:r>
          </a:p>
          <a:p xmlns:a="http://schemas.openxmlformats.org/drawingml/2006/main">
            <a:pPr algn="ctr">
              <a:defRPr sz="16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rPr>
              <a:t>Review・Wordをロック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987B6D-901C-4E37-B2A3-86CD8D5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562350"/>
            <a:ext cx="23050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45C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0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追加回答</a:t>
            </a:r>
          </a:p>
          <a:p xmlns:a="http://schemas.openxmlformats.org/drawingml/2006/main">
            <a:pPr algn="ctr">
              <a:defRPr sz="150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0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『別居・持ち家なし』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A3AB20-1B79-485E-BE15-1AE062FE3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562350"/>
            <a:ext cx="22669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5F7EE"/>
          </a:solidFill>
          <a:ln xmlns:a="http://schemas.openxmlformats.org/drawingml/2006/main" w="14288">
            <a:solidFill>
              <a:srgbClr val="15845C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275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元相談＋追加回答で再実行</a:t>
            </a:r>
          </a:p>
          <a:p xmlns:a="http://schemas.openxmlformats.org/drawingml/2006/main">
            <a:pPr algn="ctr">
              <a:defRPr sz="1275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275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判断履歴を継承</a:t>
            </a:r>
          </a:p>
        </p:txBody>
      </p:sp>
      <p:cxnSp>
        <p:nvCxnSpPr>
          <p:cNvPr id="24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2400300" y="2209800"/>
            <a:ext cx="704850" cy="952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7324D"/>
            </a:solidFill>
            <a:prstDash val="solid"/>
            <a:tailEnd type="triangle" w="sm" len="sm"/>
          </a:ln>
        </p:spPr>
      </p:cxnSp>
      <p:cxnSp>
        <p:nvCxnSpPr>
          <p:cNvPr id="25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5200650" y="2200275"/>
            <a:ext cx="800100" cy="952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A66A00"/>
            </a:solidFill>
            <a:prstDash val="solid"/>
            <a:tailEnd type="triangle" w="sm" len="sm"/>
          </a:ln>
        </p:spPr>
      </p:cxnSp>
      <p:cxnSp>
        <p:nvCxnSpPr>
          <p:cNvPr id="26" name=""/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7134225" y="2914650"/>
            <a:ext cx="342900" cy="647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A66A00"/>
            </a:solidFill>
            <a:prstDash val="solid"/>
            <a:tailEnd type="triangle" w="sm" len="sm"/>
          </a:ln>
        </p:spPr>
      </p:cxnSp>
      <p:cxnSp>
        <p:nvCxnSpPr>
          <p:cNvPr id="27" name=""/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5353050" y="4019550"/>
            <a:ext cx="6286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5845C"/>
            </a:solidFill>
            <a:prstDash val="solid"/>
            <a:tailEnd type="triangle" w="sm" len="sm"/>
          </a:ln>
        </p:spPr>
      </p:cxnSp>
      <p:cxnSp>
        <p:nvCxnSpPr>
          <p:cNvPr id="28" name=""/>
          <p:cNvCxnSpPr>
            <a:stCxn xmlns:a="http://schemas.openxmlformats.org/drawingml/2006/main" id="7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H="1" flipV="1">
            <a:off x="4152900" y="2819400"/>
            <a:ext cx="66675" cy="742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3813">
            <a:solidFill>
              <a:srgbClr val="15845C"/>
            </a:solidFill>
            <a:prstDash val="solid"/>
            <a:tailEnd type="triangle" w="sm" len="sm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150A0A-CE93-4C2D-854F-12FF2D929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1051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9E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rPr>
              <a:t>request_clarification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0BBC2D-EDC2-473C-B9EE-1661E7FE4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8006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35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固定フォームとの差は、AIが『進めるか』まで判断し、不足なら状態を変えず止まれること。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5C1848-6AA0-4D9B-9360-8D56CC282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197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SOUZOKU SHIELD  /  DEVOPS × AI 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C5978E-F92A-4E2A-9EC3-F3B9FEAC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006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162327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EFC706-A133-4E45-A559-3F9D359B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32385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27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曖昧さはAI、正しさはコード、責任は人へ。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B5DB5-FC6D-4312-ACBD-F8A069D42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8953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00" b="0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役割を混ぜないことが、高リスク領域でAI Agentを運用する設計です。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42125-BA4D-4EB1-9020-9FD612BC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1562100"/>
            <a:ext cx="2476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14288">
            <a:solidFill>
              <a:srgbClr val="735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AI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進むか、聞くか</a:t>
            </a:r>
          </a:p>
          <a:p xmlns:a="http://schemas.openxmlformats.org/drawingml/2006/main">
            <a:pPr algn="ctr">
              <a:defRPr sz="16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Function Calling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4F205-A4C5-41F1-9944-86E1C309B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562100"/>
            <a:ext cx="2476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E5F7EE"/>
          </a:solidFill>
          <a:ln xmlns:a="http://schemas.openxmlformats.org/drawingml/2006/main" w="14288">
            <a:solidFill>
              <a:srgbClr val="1584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CODE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要件・資料・リスクを</a:t>
            </a:r>
          </a:p>
          <a:p xmlns:a="http://schemas.openxmlformats.org/drawingml/2006/main">
            <a:pPr algn="ctr">
              <a:defRPr sz="16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同じ入力から再現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2B80A-FC0A-4BC2-8CA5-4677C03A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562100"/>
            <a:ext cx="2476500" cy="2152650"/>
          </a:xfrm>
          <a:prstGeom xmlns:a="http://schemas.openxmlformats.org/drawingml/2006/main" prst="roundRect">
            <a:avLst>
              <a:gd name="adj" fmla="val 7080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C25B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HUMAN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適用可否・総合所見</a:t>
            </a:r>
          </a:p>
          <a:p xmlns:a="http://schemas.openxmlformats.org/drawingml/2006/main">
            <a:pPr algn="ctr">
              <a:defRPr sz="16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6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レビュー完了（承認）</a:t>
            </a:r>
          </a:p>
        </p:txBody>
      </p:sp>
      <p:cxnSp>
        <p:nvCxnSpPr>
          <p:cNvPr id="19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2914650" y="26384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892A8"/>
            </a:solidFill>
            <a:prstDash val="solid"/>
            <a:tailEnd type="triangle" w="sm" len="sm"/>
          </a:ln>
        </p:spPr>
      </p:cxnSp>
      <p:cxnSp>
        <p:nvCxnSpPr>
          <p:cNvPr id="20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6115050" y="2638425"/>
            <a:ext cx="723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7892A8"/>
            </a:solidFill>
            <a:prstDash val="solid"/>
            <a:tailEnd type="triangle" w="sm" len="sm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5EBBB9-A0EF-4FA2-B0F1-E458FDD7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86200"/>
            <a:ext cx="21717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F4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97183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Geminiは税務結論を書かない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85C9FF-0356-42AA-A608-8FF8D9EC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886200"/>
            <a:ext cx="30480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FFAF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85932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pytest 72件・secret scan・Docker・health smoke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CAA6F-61DD-4A43-920D-BECCF10D7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886200"/>
            <a:ext cx="18478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承認後だけ Word出力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41468A-9631-4E5B-8C44-5D623353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57700"/>
            <a:ext cx="7048500" cy="552450"/>
          </a:xfrm>
          <a:prstGeom xmlns:a="http://schemas.openxmlformats.org/drawingml/2006/main" prst="roundRect">
            <a:avLst>
              <a:gd name="adj" fmla="val 20690"/>
            </a:avLst>
          </a:prstGeom>
          <a:solidFill xmlns:a="http://schemas.openxmlformats.org/drawingml/2006/main">
            <a:srgbClr val="FFE8E5"/>
          </a:solidFill>
          <a:ln xmlns:a="http://schemas.openxmlformats.org/drawingml/2006/main" w="14288">
            <a:solidFill>
              <a:srgbClr val="B42318"/>
            </a:solidFill>
            <a:prstDash val="solid"/>
          </a:ln>
        </p:spPr>
        <p:txBody>
          <a:bodyPr xmlns:a="http://schemas.openxmlformats.org/drawingml/2006/main" wrap="square" lIns="114300" tIns="95250" rIns="114300" bIns="952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B4231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575" b="1">
                <a:solidFill>
                  <a:srgbClr val="B42318"/>
                </a:solidFill>
                <a:latin typeface="Noto Sans JP Thin"/>
                <a:ea typeface="Noto Sans JP Thin"/>
                <a:cs typeface="Noto Sans JP Thin"/>
              </a:rPr>
              <a:t>CIで止める具体例  ｜  課税価格への影響  +5,600万円（架空ケース）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08490-8488-4249-8CA9-476698463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2197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SOUZOKU SHIELD  /  DEVOPS × AI 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D4CD59-6391-478A-BC3C-21708677E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200650"/>
            <a:ext cx="419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6612926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BD0CDB-ED7B-4763-B25B-11D896A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240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相続の盾｜専門判断を安全に運用する仕組み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00DCB3-B5F0-4258-96C1-45F556AA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66750"/>
            <a:ext cx="857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275" b="0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AIが次の行動を選び、コードが要件を再現し、税理士が最終判断します。</a:t>
            </a:r>
          </a:p>
        </p:txBody>
      </p:sp>
      <p:sp>
        <p:nvSpPr>
          <p:cNvPr id="3" name="execution-lane">
            <a:extLst xmlns:a="http://schemas.openxmlformats.org/drawingml/2006/main">
              <a:ext uri="{FF2B5EF4-FFF2-40B4-BE49-F238E27FC236}">
                <a16:creationId xmlns:a16="http://schemas.microsoft.com/office/drawing/2014/main" id="{D2C54E1C-1BD2-41D9-AAF1-A22A4D837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1028700"/>
            <a:ext cx="9296400" cy="2800350"/>
          </a:xfrm>
          <a:prstGeom xmlns:a="http://schemas.openxmlformats.org/drawingml/2006/main" prst="roundRect">
            <a:avLst>
              <a:gd name="adj" fmla="val 54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BFD1DF"/>
            </a:solidFill>
            <a:prstDash val="solid"/>
          </a:ln>
        </p:spPr>
      </p:sp>
      <p:sp>
        <p:nvSpPr>
          <p:cNvPr id="4" name="devops-lane">
            <a:extLst xmlns:a="http://schemas.openxmlformats.org/drawingml/2006/main">
              <a:ext uri="{FF2B5EF4-FFF2-40B4-BE49-F238E27FC236}">
                <a16:creationId xmlns:a16="http://schemas.microsoft.com/office/drawing/2014/main" id="{7BE60A9C-CA52-4E8C-B7B0-44055A9C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981450"/>
            <a:ext cx="9296400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FAF6"/>
          </a:solidFill>
          <a:ln xmlns:a="http://schemas.openxmlformats.org/drawingml/2006/main" w="14288">
            <a:solidFill>
              <a:srgbClr val="AED8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76717-80C1-46D3-BF22-9CE7520C1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実行の流れ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E47F21-903B-433A-8619-3CCCE4D9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76700"/>
            <a:ext cx="1066800" cy="2667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継続改善</a:t>
            </a:r>
          </a:p>
        </p:txBody>
      </p:sp>
      <p:sp>
        <p:nvSpPr>
          <p:cNvPr id="7" name="main-flow-arrow-180">
            <a:extLst xmlns:a="http://schemas.openxmlformats.org/drawingml/2006/main">
              <a:ext uri="{FF2B5EF4-FFF2-40B4-BE49-F238E27FC236}">
                <a16:creationId xmlns:a16="http://schemas.microsoft.com/office/drawing/2014/main" id="{66604DCB-6E07-4CDC-B77F-6579C39A8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0383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ain-flow-arrow-380">
            <a:extLst xmlns:a="http://schemas.openxmlformats.org/drawingml/2006/main">
              <a:ext uri="{FF2B5EF4-FFF2-40B4-BE49-F238E27FC236}">
                <a16:creationId xmlns:a16="http://schemas.microsoft.com/office/drawing/2014/main" id="{69DF6A23-D5CE-46A5-BC6B-90CCD70A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383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ain-flow-arrow-612">
            <a:extLst xmlns:a="http://schemas.openxmlformats.org/drawingml/2006/main">
              <a:ext uri="{FF2B5EF4-FFF2-40B4-BE49-F238E27FC236}">
                <a16:creationId xmlns:a16="http://schemas.microsoft.com/office/drawing/2014/main" id="{B84A63A1-5137-4E66-83C8-5D5E57B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383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main-flow-arrow-820">
            <a:extLst xmlns:a="http://schemas.openxmlformats.org/drawingml/2006/main">
              <a:ext uri="{FF2B5EF4-FFF2-40B4-BE49-F238E27FC236}">
                <a16:creationId xmlns:a16="http://schemas.microsoft.com/office/drawing/2014/main" id="{82DE4551-E229-424A-9E03-4A6BB761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038350"/>
            <a:ext cx="2476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25B2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afe-stop-down">
            <a:extLst xmlns:a="http://schemas.openxmlformats.org/drawingml/2006/main">
              <a:ext uri="{FF2B5EF4-FFF2-40B4-BE49-F238E27FC236}">
                <a16:creationId xmlns:a16="http://schemas.microsoft.com/office/drawing/2014/main" id="{8D9E6922-346D-4F1B-9564-A51CCDA61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209550" cy="2476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A6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afe-stop-resume">
            <a:extLst xmlns:a="http://schemas.openxmlformats.org/drawingml/2006/main">
              <a:ext uri="{FF2B5EF4-FFF2-40B4-BE49-F238E27FC236}">
                <a16:creationId xmlns:a16="http://schemas.microsoft.com/office/drawing/2014/main" id="{6AFAA796-E3A5-400E-A553-B924BB3E1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686050"/>
            <a:ext cx="209550" cy="2476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A6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improvement-arrow-350">
            <a:extLst xmlns:a="http://schemas.openxmlformats.org/drawingml/2006/main">
              <a:ext uri="{FF2B5EF4-FFF2-40B4-BE49-F238E27FC236}">
                <a16:creationId xmlns:a16="http://schemas.microsoft.com/office/drawing/2014/main" id="{49C7D865-B1A4-4ED8-AB5D-14119B411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6101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improvement-arrow-660">
            <a:extLst xmlns:a="http://schemas.openxmlformats.org/drawingml/2006/main">
              <a:ext uri="{FF2B5EF4-FFF2-40B4-BE49-F238E27FC236}">
                <a16:creationId xmlns:a16="http://schemas.microsoft.com/office/drawing/2014/main" id="{BF4B2FD6-2971-43C6-84CD-D82FD7CF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610100"/>
            <a:ext cx="2667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manual-release-arrow">
            <a:extLst xmlns:a="http://schemas.openxmlformats.org/drawingml/2006/main">
              <a:ext uri="{FF2B5EF4-FFF2-40B4-BE49-F238E27FC236}">
                <a16:creationId xmlns:a16="http://schemas.microsoft.com/office/drawing/2014/main" id="{B8792B13-AC58-4654-935E-869D55A9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52850"/>
            <a:ext cx="190500" cy="2286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1584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stage-1">
            <a:extLst xmlns:a="http://schemas.openxmlformats.org/drawingml/2006/main">
              <a:ext uri="{FF2B5EF4-FFF2-40B4-BE49-F238E27FC236}">
                <a16:creationId xmlns:a16="http://schemas.microsoft.com/office/drawing/2014/main" id="{2914A299-5FBA-42BA-BB8B-DD795FD4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D51CE6-4940-41A7-A0C3-4A7BA1C5E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相談を受ける</a:t>
            </a:r>
          </a:p>
        </p:txBody>
      </p:sp>
      <p:sp>
        <p:nvSpPr>
          <p:cNvPr id="18" name="stage-2">
            <a:extLst xmlns:a="http://schemas.openxmlformats.org/drawingml/2006/main">
              <a:ext uri="{FF2B5EF4-FFF2-40B4-BE49-F238E27FC236}">
                <a16:creationId xmlns:a16="http://schemas.microsoft.com/office/drawing/2014/main" id="{F66E41EE-23A6-48D0-9B92-B189A61AE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9AE0E1-6322-4D91-8420-29A7B4FA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409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AIが選ぶ</a:t>
            </a:r>
          </a:p>
        </p:txBody>
      </p:sp>
      <p:sp>
        <p:nvSpPr>
          <p:cNvPr id="20" name="stage-3">
            <a:extLst xmlns:a="http://schemas.openxmlformats.org/drawingml/2006/main">
              <a:ext uri="{FF2B5EF4-FFF2-40B4-BE49-F238E27FC236}">
                <a16:creationId xmlns:a16="http://schemas.microsoft.com/office/drawing/2014/main" id="{34ABFB9F-9094-43E9-A20F-FF5C63323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677BE7-8642-44CB-B3D5-980C59DD5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09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コードが再現</a:t>
            </a:r>
          </a:p>
        </p:txBody>
      </p:sp>
      <p:sp>
        <p:nvSpPr>
          <p:cNvPr id="22" name="stage-4">
            <a:extLst xmlns:a="http://schemas.openxmlformats.org/drawingml/2006/main">
              <a:ext uri="{FF2B5EF4-FFF2-40B4-BE49-F238E27FC236}">
                <a16:creationId xmlns:a16="http://schemas.microsoft.com/office/drawing/2014/main" id="{4363F6B2-CB74-4A2D-82BC-CA655D4EF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AAA3FD-852B-42CF-9E95-CD076873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09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人が判断</a:t>
            </a:r>
          </a:p>
        </p:txBody>
      </p:sp>
      <p:sp>
        <p:nvSpPr>
          <p:cNvPr id="24" name="stage-5">
            <a:extLst xmlns:a="http://schemas.openxmlformats.org/drawingml/2006/main">
              <a:ext uri="{FF2B5EF4-FFF2-40B4-BE49-F238E27FC236}">
                <a16:creationId xmlns:a16="http://schemas.microsoft.com/office/drawing/2014/main" id="{02640AEC-8454-4F69-B2D5-31D344E0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390650"/>
            <a:ext cx="247650" cy="247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FFFFFF"/>
                </a:solidFill>
                <a:latin typeface="Noto Sans JP Thin"/>
                <a:ea typeface="Noto Sans JP Thin"/>
                <a:cs typeface="Noto Sans JP Thin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DB53FD-A2FE-4B78-8411-88D22E8A9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409700"/>
            <a:ext cx="11049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975" b="1">
                <a:solidFill>
                  <a:srgbClr val="5F6D7A"/>
                </a:solidFill>
                <a:latin typeface="Noto Sans JP Thin"/>
                <a:ea typeface="Noto Sans JP Thin"/>
                <a:cs typeface="Noto Sans JP Thin"/>
              </a:rPr>
              <a:t>成果を出す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25AC635-7215-4AB8-BBA3-A7FD095E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95450"/>
            <a:ext cx="1257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C25B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76200" rIns="66675" bIns="762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散文相談・相続人情報</a:t>
            </a:r>
          </a:p>
          <a:p xmlns:a="http://schemas.openxmlformats.org/drawingml/2006/main">
            <a:pPr algn="ctr">
              <a:defRPr sz="1125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追加回答を入力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E1921F-9874-48FE-8E64-8CD28942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695450"/>
            <a:ext cx="15049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FEAFF"/>
          </a:solidFill>
          <a:ln xmlns:a="http://schemas.openxmlformats.org/drawingml/2006/main" w="14288">
            <a:solidFill>
              <a:srgbClr val="7356C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57150" tIns="66675" rIns="5715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Gemini 3.5 Flash</a:t>
            </a:r>
          </a:p>
          <a:p xmlns:a="http://schemas.openxmlformats.org/drawingml/2006/main">
            <a:pPr algn="ctr">
              <a:defRPr sz="10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進むか聞くかを選ぶ</a:t>
            </a:r>
          </a:p>
          <a:p xmlns:a="http://schemas.openxmlformats.org/drawingml/2006/main">
            <a:pPr algn="ctr">
              <a:defRPr sz="10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7356C8"/>
                </a:solidFill>
                <a:latin typeface="Noto Sans JP Thin"/>
                <a:ea typeface="Noto Sans JP Thin"/>
                <a:cs typeface="Noto Sans JP Thin"/>
              </a:rPr>
              <a:t>税務結論は作らない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1A3B32-3EF4-455D-921B-BCFC570B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695450"/>
            <a:ext cx="1809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5F7EE"/>
          </a:solidFill>
          <a:ln xmlns:a="http://schemas.openxmlformats.org/drawingml/2006/main" w="14288">
            <a:solidFill>
              <a:srgbClr val="1584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13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13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決定的な専門判断コア</a:t>
            </a:r>
          </a:p>
          <a:p xmlns:a="http://schemas.openxmlformats.org/drawingml/2006/main">
            <a:pPr algn="ctr">
              <a:defRPr sz="1013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13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必要資料・リスク・確認点</a:t>
            </a:r>
          </a:p>
          <a:p xmlns:a="http://schemas.openxmlformats.org/drawingml/2006/main">
            <a:pPr algn="ctr">
              <a:defRPr sz="1013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13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書面案を同じ結果で作る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B9D71E-8579-44B6-BA6D-50DC156A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695450"/>
            <a:ext cx="15811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0E8"/>
          </a:solidFill>
          <a:ln xmlns:a="http://schemas.openxmlformats.org/drawingml/2006/main" w="14288">
            <a:solidFill>
              <a:srgbClr val="C25B24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税理士がレビュー</a:t>
            </a:r>
          </a:p>
          <a:p xmlns:a="http://schemas.openxmlformats.org/drawingml/2006/main">
            <a:pPr algn="ctr">
              <a:defRPr sz="10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適用可否・所見を確認</a:t>
            </a:r>
          </a:p>
          <a:p xmlns:a="http://schemas.openxmlformats.org/drawingml/2006/main">
            <a:pPr algn="ctr">
              <a:defRPr sz="10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C25B24"/>
                </a:solidFill>
                <a:latin typeface="Noto Sans JP Thin"/>
                <a:ea typeface="Noto Sans JP Thin"/>
                <a:cs typeface="Noto Sans JP Thin"/>
              </a:rPr>
              <a:t>人の責任で承認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787E9F5-F33E-4D9A-87F3-53AA4EC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695450"/>
            <a:ext cx="12573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66675" rIns="66675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承認後のみ</a:t>
            </a:r>
          </a:p>
          <a:p xmlns:a="http://schemas.openxmlformats.org/drawingml/2006/main">
            <a:pPr algn="ctr">
              <a:defRPr sz="105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Word書面を出力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3B5B555-2A45-4FCB-B544-60BB78B0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952750"/>
            <a:ext cx="56959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4D8"/>
          </a:solidFill>
          <a:ln xmlns:a="http://schemas.openxmlformats.org/drawingml/2006/main" w="14288">
            <a:solidFill>
              <a:srgbClr val="A66A0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76200" tIns="47625" rIns="7620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rPr>
              <a:t>情報不足・事実の矛盾・AI障害</a:t>
            </a:r>
          </a:p>
          <a:p xmlns:a="http://schemas.openxmlformats.org/drawingml/2006/main">
            <a:pPr algn="ctr">
              <a:defRPr sz="1125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A66A00"/>
                </a:solidFill>
                <a:latin typeface="Noto Sans JP Thin"/>
                <a:ea typeface="Noto Sans JP Thin"/>
                <a:cs typeface="Noto Sans JP Thin"/>
              </a:rPr>
              <a:t>状態を変えずに安全停止し、追加回答後に同じ案件を再開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842473-236B-44CA-8CA9-3CE49DF7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71875"/>
            <a:ext cx="5581650" cy="2095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DF4F9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95250" tIns="19050" rIns="95250" bIns="19050" anchor="ctr">
            <a:normAutofit fontScale="83694"/>
          </a:bodyPr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63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Cloud Runで公開｜訪問者ごとにセッションを分離｜公開デモの状態は一時保存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7271F7-90B0-4440-82E6-E2B1842DE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400550"/>
            <a:ext cx="16764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732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57150" tIns="47625" rIns="57150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専門知ルールを</a:t>
            </a:r>
          </a:p>
          <a:p xmlns:a="http://schemas.openxmlformats.org/drawingml/2006/main">
            <a:pPr algn="ctr">
              <a:defRPr sz="1125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125" b="1">
                <a:solidFill>
                  <a:srgbClr val="17324D"/>
                </a:solidFill>
                <a:latin typeface="Noto Sans JP Thin"/>
                <a:ea typeface="Noto Sans JP Thin"/>
                <a:cs typeface="Noto Sans JP Thin"/>
              </a:rPr>
              <a:t>GitHubで更新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7FA56B-C520-41C3-AA6B-289DCC6A7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362450"/>
            <a:ext cx="26860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E5F7EE"/>
          </a:solidFill>
          <a:ln xmlns:a="http://schemas.openxmlformats.org/drawingml/2006/main" w="14288">
            <a:solidFill>
              <a:srgbClr val="1584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GitHub Actionsで自動検証</a:t>
            </a:r>
          </a:p>
          <a:p xmlns:a="http://schemas.openxmlformats.org/drawingml/2006/main">
            <a:pPr algn="ctr">
              <a:def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秘密情報検査 → 72テスト → コンテナ起動確認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7D93B38-480F-4844-9914-78114E706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400550"/>
            <a:ext cx="23241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584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wrap="square" lIns="66675" tIns="47625" rIns="66675" bIns="476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合格した版だけ</a:t>
            </a:r>
          </a:p>
          <a:p xmlns:a="http://schemas.openxmlformats.org/drawingml/2006/main">
            <a:pPr algn="ctr">
              <a:def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1050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手動でCloud Runへ公開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E34EE9B-CDD0-4F67-A43E-2276FF924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010150"/>
            <a:ext cx="7200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defRPr>
            </a:pPr>
            <a:r>
              <a:rPr sz="825" b="1">
                <a:solidFill>
                  <a:srgbClr val="15845C"/>
                </a:solidFill>
                <a:latin typeface="Noto Sans JP Thin"/>
                <a:ea typeface="Noto Sans JP Thin"/>
                <a:cs typeface="Noto Sans JP Thin"/>
              </a:rPr>
              <a:t>本番確認：公開SHA一致・実Gemini接続・9分岐・安全停止／再開・Word出力</a:t>
            </a:r>
          </a:p>
        </p:txBody>
      </p:sp>
    </p:spTree>
    <p:extLst>
      <p:ext uri="{BB962C8B-B14F-4D97-AF65-F5344CB8AC3E}">
        <p14:creationId xmlns:p14="http://schemas.microsoft.com/office/powerpoint/2010/main" val="16487403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2026-07-11T07:56:35.7580000Z</dcterms:created>
  <dcterms:modified xsi:type="dcterms:W3CDTF">2026-07-11T07:56:35.7580000Z</dcterms:modified>
</coreProperties>
</file>